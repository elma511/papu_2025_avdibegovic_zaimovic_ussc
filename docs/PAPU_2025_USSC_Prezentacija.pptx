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9"/>
  </p:notesMasterIdLst>
  <p:sldIdLst>
    <p:sldId id="256" r:id="rId2"/>
    <p:sldId id="283" r:id="rId3"/>
    <p:sldId id="285" r:id="rId4"/>
    <p:sldId id="257" r:id="rId5"/>
    <p:sldId id="284" r:id="rId6"/>
    <p:sldId id="258" r:id="rId7"/>
    <p:sldId id="259" r:id="rId8"/>
    <p:sldId id="290" r:id="rId9"/>
    <p:sldId id="260" r:id="rId10"/>
    <p:sldId id="261" r:id="rId11"/>
    <p:sldId id="286" r:id="rId12"/>
    <p:sldId id="288" r:id="rId13"/>
    <p:sldId id="287" r:id="rId14"/>
    <p:sldId id="293" r:id="rId15"/>
    <p:sldId id="292" r:id="rId16"/>
    <p:sldId id="289" r:id="rId17"/>
    <p:sldId id="262" r:id="rId18"/>
  </p:sldIdLst>
  <p:sldSz cx="9144000" cy="5143500" type="screen16x9"/>
  <p:notesSz cx="6858000" cy="9144000"/>
  <p:embeddedFontLst>
    <p:embeddedFont>
      <p:font typeface="Alata" panose="020B0604020202020204" charset="0"/>
      <p:regular r:id="rId20"/>
    </p:embeddedFont>
    <p:embeddedFont>
      <p:font typeface="Archivo" panose="020B060402020202020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0E1DDF-3875-45B7-AFAD-312003AE85C1}">
  <a:tblStyle styleId="{4D0E1DDF-3875-45B7-AFAD-312003AE85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4" autoAdjust="0"/>
    <p:restoredTop sz="88970" autoAdjust="0"/>
  </p:normalViewPr>
  <p:slideViewPr>
    <p:cSldViewPr snapToGrid="0">
      <p:cViewPr varScale="1">
        <p:scale>
          <a:sx n="98" d="100"/>
          <a:sy n="98" d="100"/>
        </p:scale>
        <p:origin x="8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12416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362d286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362d286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231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362d286f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362d286f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314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362d286f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362d286f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560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362d286f3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362d286f3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58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4f2145ca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4f2145ca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128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84f2145ca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84f2145ca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90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4f2145c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4f2145ca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787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4f2145c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4f2145ca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525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59232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98357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7B66-BDFE-7D50-98EE-95CFF8C3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D491A-9C11-9418-A3CD-2E5EEE1A9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C925F-B5E6-3735-D379-7BCB13304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656403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77C6-835B-D60B-B1BC-7AF48C84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851C3-C3FC-0AA0-28E3-781BCA388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1243B-A1B5-0B24-AC6D-60032B18C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24592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362d286f3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362d286f3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59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idx="3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4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marL="1371600" lvl="2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marL="3200400" lvl="6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marL="3657600" lvl="7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marL="4114800" lvl="8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720000" y="1257300"/>
            <a:ext cx="39177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2"/>
          </p:nvPr>
        </p:nvSpPr>
        <p:spPr>
          <a:xfrm>
            <a:off x="4878055" y="1257300"/>
            <a:ext cx="35460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2039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4949400" y="463800"/>
            <a:ext cx="3474600" cy="10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4949400" y="1461600"/>
            <a:ext cx="34746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5315100" y="3471775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infographics &amp; images by </a:t>
            </a:r>
            <a:r>
              <a:rPr lang="en" sz="12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and contents by </a:t>
            </a:r>
            <a:r>
              <a:rPr lang="en" sz="1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Swetha Tandri</a:t>
            </a:r>
            <a:endParaRPr sz="1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4343375" y="984200"/>
            <a:ext cx="4800782" cy="3164929"/>
          </a:xfrm>
          <a:custGeom>
            <a:avLst/>
            <a:gdLst/>
            <a:ahLst/>
            <a:cxnLst/>
            <a:rect l="l" t="t" r="r" b="b"/>
            <a:pathLst>
              <a:path w="154814" h="98305" extrusionOk="0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ctrTitle"/>
          </p:nvPr>
        </p:nvSpPr>
        <p:spPr>
          <a:xfrm>
            <a:off x="483536" y="455830"/>
            <a:ext cx="509981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Statička karakteristika ultrazvučnog senzora HC-SR04</a:t>
            </a:r>
            <a:endParaRPr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7126281" y="1543700"/>
            <a:ext cx="1116965" cy="1116693"/>
          </a:xfrm>
          <a:custGeom>
            <a:avLst/>
            <a:gdLst/>
            <a:ahLst/>
            <a:cxnLst/>
            <a:rect l="l" t="t" r="r" b="b"/>
            <a:pathLst>
              <a:path w="32864" h="32856" extrusionOk="0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8010185" y="2181530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7169901" y="931488"/>
            <a:ext cx="623977" cy="405403"/>
          </a:xfrm>
          <a:custGeom>
            <a:avLst/>
            <a:gdLst/>
            <a:ahLst/>
            <a:cxnLst/>
            <a:rect l="l" t="t" r="r" b="b"/>
            <a:pathLst>
              <a:path w="18359" h="11928" fill="none" extrusionOk="0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868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20"/>
          <p:cNvGrpSpPr/>
          <p:nvPr/>
        </p:nvGrpSpPr>
        <p:grpSpPr>
          <a:xfrm>
            <a:off x="5219863" y="2093631"/>
            <a:ext cx="2538390" cy="2056395"/>
            <a:chOff x="3780013" y="1888393"/>
            <a:chExt cx="2538390" cy="2056395"/>
          </a:xfrm>
        </p:grpSpPr>
        <p:sp>
          <p:nvSpPr>
            <p:cNvPr id="99" name="Google Shape;99;p20"/>
            <p:cNvSpPr/>
            <p:nvPr/>
          </p:nvSpPr>
          <p:spPr>
            <a:xfrm>
              <a:off x="3780013" y="1888393"/>
              <a:ext cx="2538390" cy="1625894"/>
            </a:xfrm>
            <a:custGeom>
              <a:avLst/>
              <a:gdLst/>
              <a:ahLst/>
              <a:cxnLst/>
              <a:rect l="l" t="t" r="r" b="b"/>
              <a:pathLst>
                <a:path w="74686" h="47838" extrusionOk="0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>
              <a:off x="3897443" y="1988693"/>
              <a:ext cx="2219180" cy="1399911"/>
            </a:xfrm>
            <a:custGeom>
              <a:avLst/>
              <a:gdLst/>
              <a:ahLst/>
              <a:cxnLst/>
              <a:rect l="l" t="t" r="r" b="b"/>
              <a:pathLst>
                <a:path w="65294" h="41189" extrusionOk="0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>
              <a:off x="5033303" y="1920852"/>
              <a:ext cx="32492" cy="32492"/>
            </a:xfrm>
            <a:custGeom>
              <a:avLst/>
              <a:gdLst/>
              <a:ahLst/>
              <a:cxnLst/>
              <a:rect l="l" t="t" r="r" b="b"/>
              <a:pathLst>
                <a:path w="956" h="956" extrusionOk="0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>
              <a:off x="4113100" y="2170157"/>
              <a:ext cx="839661" cy="42790"/>
            </a:xfrm>
            <a:custGeom>
              <a:avLst/>
              <a:gdLst/>
              <a:ahLst/>
              <a:cxnLst/>
              <a:rect l="l" t="t" r="r" b="b"/>
              <a:pathLst>
                <a:path w="24705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0"/>
            <p:cNvSpPr/>
            <p:nvPr/>
          </p:nvSpPr>
          <p:spPr>
            <a:xfrm>
              <a:off x="4113100" y="2397607"/>
              <a:ext cx="839661" cy="42824"/>
            </a:xfrm>
            <a:custGeom>
              <a:avLst/>
              <a:gdLst/>
              <a:ahLst/>
              <a:cxnLst/>
              <a:rect l="l" t="t" r="r" b="b"/>
              <a:pathLst>
                <a:path w="24705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4113100" y="2246257"/>
              <a:ext cx="489760" cy="42824"/>
            </a:xfrm>
            <a:custGeom>
              <a:avLst/>
              <a:gdLst/>
              <a:ahLst/>
              <a:cxnLst/>
              <a:rect l="l" t="t" r="r" b="b"/>
              <a:pathLst>
                <a:path w="14410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0"/>
            <p:cNvSpPr/>
            <p:nvPr/>
          </p:nvSpPr>
          <p:spPr>
            <a:xfrm>
              <a:off x="4113100" y="2322085"/>
              <a:ext cx="939958" cy="42824"/>
            </a:xfrm>
            <a:custGeom>
              <a:avLst/>
              <a:gdLst/>
              <a:ahLst/>
              <a:cxnLst/>
              <a:rect l="l" t="t" r="r" b="b"/>
              <a:pathLst>
                <a:path w="27656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0"/>
            <p:cNvSpPr/>
            <p:nvPr/>
          </p:nvSpPr>
          <p:spPr>
            <a:xfrm>
              <a:off x="5068685" y="2322085"/>
              <a:ext cx="151992" cy="42824"/>
            </a:xfrm>
            <a:custGeom>
              <a:avLst/>
              <a:gdLst/>
              <a:ahLst/>
              <a:cxnLst/>
              <a:rect l="l" t="t" r="r" b="b"/>
              <a:pathLst>
                <a:path w="4472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0"/>
            <p:cNvSpPr/>
            <p:nvPr/>
          </p:nvSpPr>
          <p:spPr>
            <a:xfrm>
              <a:off x="5244541" y="2322085"/>
              <a:ext cx="82352" cy="42824"/>
            </a:xfrm>
            <a:custGeom>
              <a:avLst/>
              <a:gdLst/>
              <a:ahLst/>
              <a:cxnLst/>
              <a:rect l="l" t="t" r="r" b="b"/>
              <a:pathLst>
                <a:path w="2423" h="1260" extrusionOk="0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0"/>
            <p:cNvSpPr/>
            <p:nvPr/>
          </p:nvSpPr>
          <p:spPr>
            <a:xfrm>
              <a:off x="4113100" y="2473740"/>
              <a:ext cx="535779" cy="42790"/>
            </a:xfrm>
            <a:custGeom>
              <a:avLst/>
              <a:gdLst/>
              <a:ahLst/>
              <a:cxnLst/>
              <a:rect l="l" t="t" r="r" b="b"/>
              <a:pathLst>
                <a:path w="15764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4657425" y="2473740"/>
              <a:ext cx="86770" cy="42790"/>
            </a:xfrm>
            <a:custGeom>
              <a:avLst/>
              <a:gdLst/>
              <a:ahLst/>
              <a:cxnLst/>
              <a:rect l="l" t="t" r="r" b="b"/>
              <a:pathLst>
                <a:path w="2553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0"/>
            <p:cNvSpPr/>
            <p:nvPr/>
          </p:nvSpPr>
          <p:spPr>
            <a:xfrm>
              <a:off x="4757724" y="2473740"/>
              <a:ext cx="46971" cy="42790"/>
            </a:xfrm>
            <a:custGeom>
              <a:avLst/>
              <a:gdLst/>
              <a:ahLst/>
              <a:cxnLst/>
              <a:rect l="l" t="t" r="r" b="b"/>
              <a:pathLst>
                <a:path w="1382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0"/>
            <p:cNvSpPr/>
            <p:nvPr/>
          </p:nvSpPr>
          <p:spPr>
            <a:xfrm>
              <a:off x="4110755" y="3060821"/>
              <a:ext cx="308607" cy="42824"/>
            </a:xfrm>
            <a:custGeom>
              <a:avLst/>
              <a:gdLst/>
              <a:ahLst/>
              <a:cxnLst/>
              <a:rect l="l" t="t" r="r" b="b"/>
              <a:pathLst>
                <a:path w="9080" h="1260" extrusionOk="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4110755" y="3136649"/>
              <a:ext cx="179998" cy="42824"/>
            </a:xfrm>
            <a:custGeom>
              <a:avLst/>
              <a:gdLst/>
              <a:ahLst/>
              <a:cxnLst/>
              <a:rect l="l" t="t" r="r" b="b"/>
              <a:pathLst>
                <a:path w="5296" h="1260" extrusionOk="0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5480250" y="3064390"/>
              <a:ext cx="576224" cy="42790"/>
            </a:xfrm>
            <a:custGeom>
              <a:avLst/>
              <a:gdLst/>
              <a:ahLst/>
              <a:cxnLst/>
              <a:rect l="l" t="t" r="r" b="b"/>
              <a:pathLst>
                <a:path w="16954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5720413" y="3140490"/>
              <a:ext cx="336068" cy="42824"/>
            </a:xfrm>
            <a:custGeom>
              <a:avLst/>
              <a:gdLst/>
              <a:ahLst/>
              <a:cxnLst/>
              <a:rect l="l" t="t" r="r" b="b"/>
              <a:pathLst>
                <a:path w="9888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0"/>
            <p:cNvSpPr/>
            <p:nvPr/>
          </p:nvSpPr>
          <p:spPr>
            <a:xfrm>
              <a:off x="5411220" y="3216318"/>
              <a:ext cx="645559" cy="42824"/>
            </a:xfrm>
            <a:custGeom>
              <a:avLst/>
              <a:gdLst/>
              <a:ahLst/>
              <a:cxnLst/>
              <a:rect l="l" t="t" r="r" b="b"/>
              <a:pathLst>
                <a:path w="18994" h="1260" extrusionOk="0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5296169" y="3216318"/>
              <a:ext cx="104478" cy="42824"/>
            </a:xfrm>
            <a:custGeom>
              <a:avLst/>
              <a:gdLst/>
              <a:ahLst/>
              <a:cxnLst/>
              <a:rect l="l" t="t" r="r" b="b"/>
              <a:pathLst>
                <a:path w="3074" h="1260" extrusionOk="0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5223298" y="3216318"/>
              <a:ext cx="56385" cy="42824"/>
            </a:xfrm>
            <a:custGeom>
              <a:avLst/>
              <a:gdLst/>
              <a:ahLst/>
              <a:cxnLst/>
              <a:rect l="l" t="t" r="r" b="b"/>
              <a:pathLst>
                <a:path w="1659" h="1260" extrusionOk="0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4113100" y="2563436"/>
              <a:ext cx="11556" cy="456418"/>
            </a:xfrm>
            <a:custGeom>
              <a:avLst/>
              <a:gdLst/>
              <a:ahLst/>
              <a:cxnLst/>
              <a:rect l="l" t="t" r="r" b="b"/>
              <a:pathLst>
                <a:path w="340" h="13429" extrusionOk="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3780013" y="3514293"/>
              <a:ext cx="2538390" cy="183532"/>
            </a:xfrm>
            <a:custGeom>
              <a:avLst/>
              <a:gdLst/>
              <a:ahLst/>
              <a:cxnLst/>
              <a:rect l="l" t="t" r="r" b="b"/>
              <a:pathLst>
                <a:path w="74686" h="5400" extrusionOk="0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>
              <a:off x="3905105" y="1991849"/>
              <a:ext cx="2303265" cy="1399911"/>
            </a:xfrm>
            <a:custGeom>
              <a:avLst/>
              <a:gdLst/>
              <a:ahLst/>
              <a:cxnLst/>
              <a:rect l="l" t="t" r="r" b="b"/>
              <a:pathLst>
                <a:path w="67768" h="41189" extrusionOk="0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4518380" y="3697796"/>
              <a:ext cx="909302" cy="193865"/>
            </a:xfrm>
            <a:custGeom>
              <a:avLst/>
              <a:gdLst/>
              <a:ahLst/>
              <a:cxnLst/>
              <a:rect l="l" t="t" r="r" b="b"/>
              <a:pathLst>
                <a:path w="26754" h="5704" extrusionOk="0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4364956" y="3874230"/>
              <a:ext cx="1216413" cy="70558"/>
            </a:xfrm>
            <a:custGeom>
              <a:avLst/>
              <a:gdLst/>
              <a:ahLst/>
              <a:cxnLst/>
              <a:rect l="l" t="t" r="r" b="b"/>
              <a:pathLst>
                <a:path w="35790" h="2076" extrusionOk="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4573849" y="3697796"/>
              <a:ext cx="798672" cy="96796"/>
            </a:xfrm>
            <a:custGeom>
              <a:avLst/>
              <a:gdLst/>
              <a:ahLst/>
              <a:cxnLst/>
              <a:rect l="l" t="t" r="r" b="b"/>
              <a:pathLst>
                <a:path w="23499" h="2848" extrusionOk="0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7522062" y="2456830"/>
            <a:ext cx="811927" cy="753197"/>
            <a:chOff x="4932662" y="2251593"/>
            <a:chExt cx="811927" cy="753197"/>
          </a:xfrm>
        </p:grpSpPr>
        <p:sp>
          <p:nvSpPr>
            <p:cNvPr id="125" name="Google Shape;125;p20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20"/>
          <p:cNvGrpSpPr/>
          <p:nvPr/>
        </p:nvGrpSpPr>
        <p:grpSpPr>
          <a:xfrm>
            <a:off x="6021590" y="1231279"/>
            <a:ext cx="914298" cy="753197"/>
            <a:chOff x="4810340" y="1026041"/>
            <a:chExt cx="914298" cy="753197"/>
          </a:xfrm>
        </p:grpSpPr>
        <p:sp>
          <p:nvSpPr>
            <p:cNvPr id="131" name="Google Shape;131;p20"/>
            <p:cNvSpPr/>
            <p:nvPr/>
          </p:nvSpPr>
          <p:spPr>
            <a:xfrm>
              <a:off x="4810340" y="1026041"/>
              <a:ext cx="914298" cy="753197"/>
            </a:xfrm>
            <a:custGeom>
              <a:avLst/>
              <a:gdLst/>
              <a:ahLst/>
              <a:cxnLst/>
              <a:rect l="l" t="t" r="r" b="b"/>
              <a:pathLst>
                <a:path w="26901" h="22161" extrusionOk="0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4846028" y="1134906"/>
              <a:ext cx="843196" cy="592436"/>
            </a:xfrm>
            <a:custGeom>
              <a:avLst/>
              <a:gdLst/>
              <a:ahLst/>
              <a:cxnLst/>
              <a:rect l="l" t="t" r="r" b="b"/>
              <a:pathLst>
                <a:path w="24809" h="17431" extrusionOk="0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4859011" y="1059350"/>
              <a:ext cx="42212" cy="42246"/>
            </a:xfrm>
            <a:custGeom>
              <a:avLst/>
              <a:gdLst/>
              <a:ahLst/>
              <a:cxnLst/>
              <a:rect l="l" t="t" r="r" b="b"/>
              <a:pathLst>
                <a:path w="1242" h="1243" extrusionOk="0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4930693" y="1059384"/>
              <a:ext cx="41941" cy="42212"/>
            </a:xfrm>
            <a:custGeom>
              <a:avLst/>
              <a:gdLst/>
              <a:ahLst/>
              <a:cxnLst/>
              <a:rect l="l" t="t" r="r" b="b"/>
              <a:pathLst>
                <a:path w="1234" h="1242" extrusionOk="0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5002408" y="1059384"/>
              <a:ext cx="42212" cy="42212"/>
            </a:xfrm>
            <a:custGeom>
              <a:avLst/>
              <a:gdLst/>
              <a:ahLst/>
              <a:cxnLst/>
              <a:rect l="l" t="t" r="r" b="b"/>
              <a:pathLst>
                <a:path w="1242" h="1242" extrusionOk="0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" name="Google Shape;136;p20"/>
          <p:cNvGrpSpPr/>
          <p:nvPr/>
        </p:nvGrpSpPr>
        <p:grpSpPr>
          <a:xfrm>
            <a:off x="7825621" y="3258683"/>
            <a:ext cx="508385" cy="644675"/>
            <a:chOff x="4859771" y="3053445"/>
            <a:chExt cx="508385" cy="644675"/>
          </a:xfrm>
        </p:grpSpPr>
        <p:sp>
          <p:nvSpPr>
            <p:cNvPr id="137" name="Google Shape;137;p20"/>
            <p:cNvSpPr/>
            <p:nvPr/>
          </p:nvSpPr>
          <p:spPr>
            <a:xfrm>
              <a:off x="4859771" y="3053445"/>
              <a:ext cx="508385" cy="644675"/>
            </a:xfrm>
            <a:custGeom>
              <a:avLst/>
              <a:gdLst/>
              <a:ahLst/>
              <a:cxnLst/>
              <a:rect l="l" t="t" r="r" b="b"/>
              <a:pathLst>
                <a:path w="14958" h="18968" extrusionOk="0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0"/>
            <p:cNvSpPr/>
            <p:nvPr/>
          </p:nvSpPr>
          <p:spPr>
            <a:xfrm>
              <a:off x="5265729" y="3053751"/>
              <a:ext cx="101827" cy="130444"/>
            </a:xfrm>
            <a:custGeom>
              <a:avLst/>
              <a:gdLst/>
              <a:ahLst/>
              <a:cxnLst/>
              <a:rect l="l" t="t" r="r" b="b"/>
              <a:pathLst>
                <a:path w="2996" h="3838" extrusionOk="0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0"/>
            <p:cNvSpPr/>
            <p:nvPr/>
          </p:nvSpPr>
          <p:spPr>
            <a:xfrm>
              <a:off x="4961567" y="3237560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4961567" y="3300099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4961567" y="3362943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4961567" y="3425482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4961567" y="3487748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Google Shape;144;p20"/>
          <p:cNvSpPr/>
          <p:nvPr/>
        </p:nvSpPr>
        <p:spPr>
          <a:xfrm>
            <a:off x="4971891" y="1763296"/>
            <a:ext cx="746128" cy="1207406"/>
          </a:xfrm>
          <a:custGeom>
            <a:avLst/>
            <a:gdLst/>
            <a:ahLst/>
            <a:cxnLst/>
            <a:rect l="l" t="t" r="r" b="b"/>
            <a:pathLst>
              <a:path w="21953" h="35525" extrusionOk="0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20"/>
          <p:cNvGrpSpPr/>
          <p:nvPr/>
        </p:nvGrpSpPr>
        <p:grpSpPr>
          <a:xfrm>
            <a:off x="5144179" y="1150727"/>
            <a:ext cx="740520" cy="478869"/>
            <a:chOff x="3932929" y="945489"/>
            <a:chExt cx="740520" cy="478869"/>
          </a:xfrm>
        </p:grpSpPr>
        <p:grpSp>
          <p:nvGrpSpPr>
            <p:cNvPr id="146" name="Google Shape;146;p20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47" name="Google Shape;147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" name="Google Shape;150;p20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51" name="Google Shape;151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20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55" name="Google Shape;155;p20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0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0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616" y="2267737"/>
            <a:ext cx="1965942" cy="12794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46" y="3620397"/>
            <a:ext cx="2628729" cy="1459492"/>
          </a:xfrm>
          <a:prstGeom prst="rect">
            <a:avLst/>
          </a:prstGeom>
        </p:spPr>
      </p:pic>
      <p:sp>
        <p:nvSpPr>
          <p:cNvPr id="69" name="Google Shape;213;p23"/>
          <p:cNvSpPr txBox="1"/>
          <p:nvPr/>
        </p:nvSpPr>
        <p:spPr>
          <a:xfrm>
            <a:off x="473517" y="2305982"/>
            <a:ext cx="5555261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Predmet: Praktikum akvizicije podataka i upravljanja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Studenti: Hana Zaimović i Elma Avdibegović</a:t>
            </a:r>
          </a:p>
        </p:txBody>
      </p:sp>
      <p:sp>
        <p:nvSpPr>
          <p:cNvPr id="70" name="Google Shape;213;p23"/>
          <p:cNvSpPr txBox="1"/>
          <p:nvPr/>
        </p:nvSpPr>
        <p:spPr>
          <a:xfrm>
            <a:off x="3289411" y="4184478"/>
            <a:ext cx="2531428" cy="4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hr-HR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Projektni zadatak 1</a:t>
            </a: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Studijska godina: 2024/25.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29238" y="3464719"/>
            <a:ext cx="3378993" cy="113585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6200000">
            <a:off x="-119328" y="2034242"/>
            <a:ext cx="3474600" cy="1097400"/>
          </a:xfrm>
        </p:spPr>
        <p:txBody>
          <a:bodyPr/>
          <a:lstStyle/>
          <a:p>
            <a:pPr algn="ctr"/>
            <a:r>
              <a:rPr lang="hr-HR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Sadržaj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4221" y="310515"/>
            <a:ext cx="5996939" cy="417909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hr-H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Opis projekta</a:t>
            </a:r>
          </a:p>
          <a:p>
            <a:pPr marL="139700" indent="0" algn="l">
              <a:lnSpc>
                <a:spcPct val="150000"/>
              </a:lnSpc>
            </a:pPr>
            <a:r>
              <a:rPr lang="hr-H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O senzoru:</a:t>
            </a:r>
          </a:p>
          <a:p>
            <a:pPr marL="808038" indent="-342900" algn="l">
              <a:buFont typeface="Arial" panose="020B0604020202020204" pitchFamily="34" charset="0"/>
              <a:buChar char="•"/>
            </a:pPr>
            <a:r>
              <a:rPr lang="hr-HR" sz="1600" b="1" dirty="0"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Princip rada senzora</a:t>
            </a:r>
          </a:p>
          <a:p>
            <a:pPr marL="808038" indent="-342900" algn="l">
              <a:buFont typeface="Arial" panose="020B0604020202020204" pitchFamily="34" charset="0"/>
              <a:buChar char="•"/>
            </a:pPr>
            <a:r>
              <a:rPr lang="hr-HR" sz="1600" b="1" dirty="0"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Prednosti i nedostaci</a:t>
            </a:r>
          </a:p>
          <a:p>
            <a:pPr marL="808038" indent="-342900" algn="l">
              <a:buFont typeface="Arial" panose="020B0604020202020204" pitchFamily="34" charset="0"/>
              <a:buChar char="•"/>
            </a:pPr>
            <a:r>
              <a:rPr lang="hr-HR" sz="1600" b="1" dirty="0"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Moguće aplikacije u praksi</a:t>
            </a: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Organizacija </a:t>
            </a:r>
            <a:r>
              <a:rPr lang="hr-HR" sz="2000" b="1" dirty="0">
                <a:solidFill>
                  <a:srgbClr val="041E52"/>
                </a:solidFill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laboratorijskih vježbi</a:t>
            </a:r>
            <a:endParaRPr lang="hr-HR" sz="2000" b="1" dirty="0">
              <a:latin typeface="Archivo" panose="020B0604020202020204" charset="-18"/>
              <a:ea typeface="Alata"/>
              <a:cs typeface="Archivo" panose="020B0604020202020204" charset="-18"/>
              <a:sym typeface="Alata"/>
            </a:endParaRP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Shema spajanja</a:t>
            </a:r>
            <a:endParaRPr lang="hr-HR" sz="2000" b="1" dirty="0">
              <a:solidFill>
                <a:srgbClr val="041E52"/>
              </a:solidFill>
              <a:latin typeface="Archivo" panose="020B0604020202020204" charset="-18"/>
              <a:ea typeface="Alata"/>
              <a:cs typeface="Archivo" panose="020B0604020202020204" charset="-18"/>
              <a:sym typeface="Alata"/>
            </a:endParaRP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LabVIEW</a:t>
            </a:r>
            <a:r>
              <a:rPr lang="hr-HR" sz="2000" b="1" dirty="0">
                <a:solidFill>
                  <a:srgbClr val="041E52"/>
                </a:solidFill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 model</a:t>
            </a: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MATLAB</a:t>
            </a:r>
            <a:r>
              <a:rPr lang="hr-HR" sz="2000" b="1" dirty="0">
                <a:solidFill>
                  <a:srgbClr val="041E52"/>
                </a:solidFill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 i Curve Fitting Tool</a:t>
            </a: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Eksperimentalni rezultati</a:t>
            </a:r>
          </a:p>
          <a:p>
            <a:pPr marL="139700" lvl="0" indent="0" algn="l">
              <a:lnSpc>
                <a:spcPct val="150000"/>
              </a:lnSpc>
              <a:buClr>
                <a:srgbClr val="041E52"/>
              </a:buClr>
            </a:pPr>
            <a:r>
              <a:rPr lang="hr-HR" sz="2000" b="1" dirty="0">
                <a:solidFill>
                  <a:srgbClr val="041E52"/>
                </a:solidFill>
                <a:latin typeface="Archivo" panose="020B0604020202020204" charset="-18"/>
                <a:ea typeface="Alata"/>
                <a:cs typeface="Archivo" panose="020B0604020202020204" charset="-18"/>
                <a:sym typeface="Alata"/>
              </a:rPr>
              <a:t>Zaključak</a:t>
            </a:r>
          </a:p>
          <a:p>
            <a:pPr marL="139700" lvl="0" indent="0" algn="l">
              <a:buClr>
                <a:srgbClr val="041E52"/>
              </a:buClr>
            </a:pPr>
            <a:endParaRPr lang="hr-HR" sz="1800" b="1" dirty="0">
              <a:solidFill>
                <a:srgbClr val="041E52"/>
              </a:solidFill>
              <a:latin typeface="Alata"/>
              <a:ea typeface="Alata"/>
              <a:cs typeface="Alata"/>
              <a:sym typeface="Alata"/>
            </a:endParaRPr>
          </a:p>
          <a:p>
            <a:pPr marL="139700" lvl="0" indent="0" algn="l">
              <a:buClr>
                <a:srgbClr val="041E52"/>
              </a:buClr>
            </a:pPr>
            <a:endParaRPr lang="hr-HR" sz="2400" b="1" dirty="0">
              <a:solidFill>
                <a:srgbClr val="041E52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  <p:extLst>
      <p:ext uri="{BB962C8B-B14F-4D97-AF65-F5344CB8AC3E}">
        <p14:creationId xmlns:p14="http://schemas.microsoft.com/office/powerpoint/2010/main" val="114138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9578" y="237691"/>
            <a:ext cx="8252459" cy="701761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hr-H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OPIS PROJEKTA </a:t>
            </a:r>
            <a:r>
              <a:rPr lang="hr-H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ciljevi i realizacija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977682" y="988135"/>
            <a:ext cx="3361700" cy="39978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9579" y="1278880"/>
            <a:ext cx="3825241" cy="34163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Analiza statičke karakteristike senzora HC-SR04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Razvijen </a:t>
            </a:r>
            <a:r>
              <a:rPr lang="sr-Latn-RS" altLang="sr-Latn-RS" sz="1800" b="1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virtuelni instrument </a:t>
            </a: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u LabVIEW okruženju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Korištena </a:t>
            </a:r>
            <a:r>
              <a:rPr lang="sr-Latn-RS" altLang="sr-Latn-RS" sz="1800" b="1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NI 6024E </a:t>
            </a: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akvizicijska kartica i MATLAB za obradu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Prikupljeni podaci za različite materijale (karton i plastika)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Linearna aproksimacija rezultata pomoću Curve Fitting Tool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r-Latn-RS" altLang="sr-Latn-RS" sz="1800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Vizualizacija napona i udaljenosti u realnom vremenu</a:t>
            </a:r>
          </a:p>
        </p:txBody>
      </p:sp>
    </p:spTree>
    <p:extLst>
      <p:ext uri="{BB962C8B-B14F-4D97-AF65-F5344CB8AC3E}">
        <p14:creationId xmlns:p14="http://schemas.microsoft.com/office/powerpoint/2010/main" val="35317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784294" y="703882"/>
            <a:ext cx="3598800" cy="18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senzoru</a:t>
            </a:r>
            <a:br>
              <a:rPr lang="hr-HR" dirty="0"/>
            </a:br>
            <a:r>
              <a:rPr lang="hr-HR" sz="2400" dirty="0"/>
              <a:t>-princip rada senzora</a:t>
            </a:r>
            <a:endParaRPr sz="2400" dirty="0"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1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ChangeArrowheads="1"/>
              </p:cNvSpPr>
              <p:nvPr/>
            </p:nvSpPr>
            <p:spPr bwMode="auto">
              <a:xfrm>
                <a:off x="4383094" y="485979"/>
                <a:ext cx="4203694" cy="41846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sr-Latn-RS" altLang="sr-Latn-R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Fizikalni princip rada:</a:t>
                </a:r>
                <a:b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</a:br>
                <a: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 Emituje ultrazvučni talas (40 kHz) </a:t>
                </a:r>
              </a:p>
              <a:p>
                <a:pPr marR="0" lvl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→ talas se odbija od prepreke </a:t>
                </a:r>
              </a:p>
              <a:p>
                <a:pPr marR="0" lvl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→ senzor mjeri vrijeme povratka signala</a:t>
                </a:r>
              </a:p>
              <a:p>
                <a:pPr marR="0" lvl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sr-Latn-RS" altLang="sr-Latn-RS" sz="1700" dirty="0">
                  <a:solidFill>
                    <a:schemeClr val="tx1"/>
                  </a:solidFill>
                  <a:latin typeface="Archivo" panose="020B0604020202020204" charset="-18"/>
                  <a:cs typeface="Archivo" panose="020B0604020202020204" charset="-18"/>
                </a:endParaRPr>
              </a:p>
              <a:p>
                <a:pPr marL="285750" marR="0" lvl="0" indent="-28575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sr-Latn-RS" altLang="sr-Latn-RS" sz="1800" b="1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  <a:t>Električni signal:</a:t>
                </a:r>
                <a:br>
                  <a:rPr lang="sr-Latn-RS" altLang="sr-Latn-RS" sz="1700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</a:br>
                <a:r>
                  <a:rPr lang="sr-Latn-RS" altLang="sr-Latn-RS" sz="1700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  <a:t>TRIG – digitalni ulazni impuls (≥10 µs)</a:t>
                </a:r>
                <a:br>
                  <a:rPr lang="sr-Latn-RS" altLang="sr-Latn-RS" sz="1700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</a:br>
                <a:r>
                  <a:rPr lang="sr-Latn-RS" altLang="sr-Latn-RS" sz="1700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  <a:t>ECHO – digitalni izlaz: trajanje HIGH impulsa proporcionalno udaljenosti</a:t>
                </a:r>
              </a:p>
              <a:p>
                <a:pPr marR="0" lvl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sr-Latn-RS" altLang="sr-Latn-RS" sz="1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chivo" panose="020B0604020202020204" charset="-18"/>
                  <a:cs typeface="Archivo" panose="020B0604020202020204" charset="-18"/>
                </a:endParaRPr>
              </a:p>
              <a:p>
                <a:pPr marL="285750" lvl="0" indent="-285750" algn="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sr-Latn-RS" altLang="sr-Latn-RS" sz="1800" b="1" dirty="0">
                    <a:solidFill>
                      <a:schemeClr val="tx1"/>
                    </a:solidFill>
                    <a:latin typeface="Archivo" panose="020B0604020202020204" charset="-18"/>
                    <a:cs typeface="Archivo" panose="020B0604020202020204" charset="-18"/>
                  </a:rPr>
                  <a:t>M</a:t>
                </a:r>
                <a:r>
                  <a:rPr kumimoji="0" lang="sr-Latn-RS" altLang="sr-Latn-R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jerenje udaljenosti:</a:t>
                </a:r>
                <a:b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</a:br>
                <a14:m>
                  <m:oMath xmlns:m="http://schemas.openxmlformats.org/officeDocument/2006/math"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hr-HR" altLang="sr-Latn-RS" sz="17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r-HR" altLang="sr-Latn-R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hr-HR" altLang="sr-Latn-R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r-HR" altLang="sr-Latn-R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kumimoji="0" lang="hr-HR" altLang="sr-Latn-RS" sz="17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≈343</m:t>
                    </m:r>
                    <m:f>
                      <m:fPr>
                        <m:ctrlPr>
                          <a:rPr kumimoji="0" lang="hr-HR" altLang="sr-Latn-RS" sz="17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hr-HR" altLang="sr-Latn-RS" sz="17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kumimoji="0" lang="hr-HR" altLang="sr-Latn-RS" sz="17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kumimoji="0" lang="hr-HR" altLang="sr-Latn-RS" sz="17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hr-HR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 </a:t>
                </a:r>
                <a:r>
                  <a:rPr kumimoji="0" lang="hr-HR" altLang="sr-Latn-R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(v-brzina</a:t>
                </a:r>
                <a:r>
                  <a:rPr kumimoji="0" lang="hr-HR" altLang="sr-Latn-RS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 zvuka)</a:t>
                </a:r>
                <a:endParaRPr kumimoji="0" lang="hr-HR" altLang="sr-Latn-R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chivo" panose="020B0604020202020204" charset="-18"/>
                  <a:cs typeface="Archivo" panose="020B0604020202020204" charset="-18"/>
                </a:endParaRPr>
              </a:p>
              <a:p>
                <a:pPr lvl="0" algn="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kumimoji="0" lang="sr-Latn-RS" altLang="sr-Latn-RS" sz="1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chivo" panose="020B0604020202020204" charset="-18"/>
                  <a:cs typeface="Archivo" panose="020B0604020202020204" charset="-18"/>
                </a:endParaRPr>
              </a:p>
              <a:p>
                <a:pPr marL="285750" lvl="0" indent="-285750" algn="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kumimoji="0" lang="sr-Latn-RS" altLang="sr-Latn-R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Povezivanje sa sistemom:</a:t>
                </a:r>
                <a:b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</a:br>
                <a:r>
                  <a:rPr kumimoji="0" lang="sr-Latn-RS" altLang="sr-Latn-RS" sz="17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chivo" panose="020B0604020202020204" charset="-18"/>
                    <a:cs typeface="Archivo" panose="020B0604020202020204" charset="-18"/>
                  </a:rPr>
                  <a:t>4 pina: VCC, GND, TRIG, ECHO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3094" y="485979"/>
                <a:ext cx="4203694" cy="4184607"/>
              </a:xfrm>
              <a:prstGeom prst="rect">
                <a:avLst/>
              </a:prstGeom>
              <a:blipFill rotWithShape="0">
                <a:blip r:embed="rId3"/>
                <a:stretch>
                  <a:fillRect t="-292" r="-2464" b="-16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69" y="2257426"/>
            <a:ext cx="4800450" cy="221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790241" y="645715"/>
            <a:ext cx="3598800" cy="18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senzoru</a:t>
            </a:r>
            <a:br>
              <a:rPr lang="hr-HR" dirty="0"/>
            </a:br>
            <a:r>
              <a:rPr lang="hr-HR" sz="2400" dirty="0"/>
              <a:t>-moguće primjene u praksi</a:t>
            </a:r>
            <a:endParaRPr sz="2400" dirty="0"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1"/>
          </p:nvPr>
        </p:nvSpPr>
        <p:spPr>
          <a:xfrm>
            <a:off x="4593675" y="488365"/>
            <a:ext cx="3801900" cy="4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21"/>
          <p:cNvSpPr/>
          <p:nvPr/>
        </p:nvSpPr>
        <p:spPr>
          <a:xfrm>
            <a:off x="524212" y="3498793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79562" y="3850293"/>
            <a:ext cx="811927" cy="753197"/>
            <a:chOff x="4932662" y="2251593"/>
            <a:chExt cx="811927" cy="753197"/>
          </a:xfrm>
        </p:grpSpPr>
        <p:sp>
          <p:nvSpPr>
            <p:cNvPr id="166" name="Google Shape;166;p21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14850" y="254751"/>
            <a:ext cx="4247362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sr-Latn-RS" altLang="sr-Latn-RS" sz="1800" b="1" dirty="0">
                <a:solidFill>
                  <a:schemeClr val="tx1"/>
                </a:solidFill>
                <a:latin typeface="Archivo" panose="020B0604020202020204" charset="-18"/>
                <a:cs typeface="Archivo" panose="020B0604020202020204" charset="-18"/>
              </a:rPr>
              <a:t>Prednosti i nedostaci senzora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sr-Latn-RS" altLang="sr-Latn-R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-18"/>
              <a:cs typeface="Archivo" panose="020B0604020202020204" charset="-1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Robotika – izbjegavanje prepreka:</a:t>
            </a:r>
            <a:b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</a:br>
            <a:r>
              <a:rPr kumimoji="0" lang="sr-Latn-RS" altLang="sr-Latn-R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Mobilni roboti koriste više senzora za detekciju prepreka i planiranje puta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sr-Latn-RS" altLang="sr-Latn-R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-18"/>
              <a:cs typeface="Archivo" panose="020B0604020202020204" charset="-1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Automobilski sistemi – parkiranje:</a:t>
            </a:r>
            <a:b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</a:br>
            <a:r>
              <a:rPr kumimoji="0" lang="sr-Latn-RS" altLang="sr-Latn-R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Senzori postavljeni naprijed/nazad mjere udaljenost do zidova i drugih vozila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sr-Latn-RS" altLang="sr-Latn-R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-18"/>
              <a:cs typeface="Archivo" panose="020B0604020202020204" charset="-1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Industrijska automatizacija:</a:t>
            </a:r>
            <a:b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</a:br>
            <a:r>
              <a:rPr kumimoji="0" lang="sr-Latn-RS" altLang="sr-Latn-R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Detekcija prisustva objekata, kontrola nivoa složenosti i pozicije materijala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sr-Latn-RS" altLang="sr-Latn-R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-18"/>
              <a:cs typeface="Archivo" panose="020B0604020202020204" charset="-1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Mjerenje nivoa tečnosti:</a:t>
            </a:r>
            <a:b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</a:br>
            <a:r>
              <a:rPr kumimoji="0" lang="sr-Latn-RS" altLang="sr-Latn-R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-18"/>
                <a:cs typeface="Archivo" panose="020B0604020202020204" charset="-18"/>
              </a:rPr>
              <a:t>Senzor iznad rezervoara mjeri visinu tečnosti bez fizičkog kontakta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63" y="2024857"/>
            <a:ext cx="3233921" cy="269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1118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Organizacija laboratorijskih vježbi</a:t>
            </a:r>
            <a:b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hr-HR" sz="2000" dirty="0"/>
              <a:t>- segmenti</a:t>
            </a:r>
            <a:endParaRPr sz="2000" dirty="0"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1"/>
          </p:nvPr>
        </p:nvSpPr>
        <p:spPr>
          <a:xfrm>
            <a:off x="1008098" y="1589533"/>
            <a:ext cx="3563902" cy="1443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r-HR" dirty="0"/>
              <a:t>Uvodno istraživanje (zadaća 1)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r-HR" dirty="0"/>
              <a:t>Snimanje karakteristike senzora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r-HR" dirty="0"/>
              <a:t>Linearizacija karakteristike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r-HR" dirty="0"/>
              <a:t>Mjerenje i obrada podataka kroz finalni model u LabVIEW-u </a:t>
            </a:r>
            <a:endParaRPr dirty="0"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2"/>
          </p:nvPr>
        </p:nvSpPr>
        <p:spPr>
          <a:xfrm>
            <a:off x="4694354" y="1659992"/>
            <a:ext cx="4014838" cy="1536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b="1" dirty="0"/>
              <a:t>Odabrani softver:</a:t>
            </a:r>
            <a:endParaRPr lang="hr-HR" dirty="0"/>
          </a:p>
          <a:p>
            <a:r>
              <a:rPr lang="hr-HR" b="1" dirty="0"/>
              <a:t>LabVIEW:</a:t>
            </a:r>
            <a:r>
              <a:rPr lang="hr-HR" dirty="0"/>
              <a:t> razvoj virtuelnog instrumenta (VI)</a:t>
            </a:r>
          </a:p>
          <a:p>
            <a:r>
              <a:rPr lang="hr-HR" b="1" dirty="0"/>
              <a:t>MATLAB:</a:t>
            </a:r>
            <a:r>
              <a:rPr lang="hr-HR" dirty="0"/>
              <a:t> obrada podataka i izrada linearnog modela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8" name="Google Shape;178;p22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79" name="Google Shape;179;p22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80" name="Google Shape;180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22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84" name="Google Shape;184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22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88" name="Google Shape;188;p22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2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2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6062"/>
          <a:stretch/>
        </p:blipFill>
        <p:spPr>
          <a:xfrm>
            <a:off x="753695" y="3242675"/>
            <a:ext cx="7720355" cy="1203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title"/>
          </p:nvPr>
        </p:nvSpPr>
        <p:spPr>
          <a:xfrm>
            <a:off x="615327" y="940429"/>
            <a:ext cx="3413589" cy="3195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Shema spajanja senzora s akvizicijskom karticom</a:t>
            </a:r>
            <a:endParaRPr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141613" y="422362"/>
            <a:ext cx="3657600" cy="458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889799" y="4014123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07;p23"/>
          <p:cNvGrpSpPr/>
          <p:nvPr/>
        </p:nvGrpSpPr>
        <p:grpSpPr>
          <a:xfrm>
            <a:off x="8246637" y="3622693"/>
            <a:ext cx="811927" cy="753197"/>
            <a:chOff x="4932662" y="2251593"/>
            <a:chExt cx="811927" cy="753197"/>
          </a:xfrm>
        </p:grpSpPr>
        <p:sp>
          <p:nvSpPr>
            <p:cNvPr id="208" name="Google Shape;208;p23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16" y="682485"/>
            <a:ext cx="3833756" cy="37117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EE597-15F6-78A6-C37F-2F71D0F1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LabVIEW model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ABC00-0213-6A2B-1FB2-24041182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446" y="972534"/>
            <a:ext cx="4525107" cy="38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7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8253375" y="428100"/>
            <a:ext cx="601973" cy="596912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" name="Google Shape;220;p24"/>
          <p:cNvGrpSpPr/>
          <p:nvPr/>
        </p:nvGrpSpPr>
        <p:grpSpPr>
          <a:xfrm flipH="1">
            <a:off x="8554361" y="81881"/>
            <a:ext cx="508385" cy="644675"/>
            <a:chOff x="4859771" y="3053445"/>
            <a:chExt cx="508385" cy="644675"/>
          </a:xfrm>
        </p:grpSpPr>
        <p:sp>
          <p:nvSpPr>
            <p:cNvPr id="221" name="Google Shape;221;p24"/>
            <p:cNvSpPr/>
            <p:nvPr/>
          </p:nvSpPr>
          <p:spPr>
            <a:xfrm>
              <a:off x="4859771" y="3053445"/>
              <a:ext cx="508385" cy="644675"/>
            </a:xfrm>
            <a:custGeom>
              <a:avLst/>
              <a:gdLst/>
              <a:ahLst/>
              <a:cxnLst/>
              <a:rect l="l" t="t" r="r" b="b"/>
              <a:pathLst>
                <a:path w="14958" h="18968" extrusionOk="0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5265729" y="3053751"/>
              <a:ext cx="101827" cy="130444"/>
            </a:xfrm>
            <a:custGeom>
              <a:avLst/>
              <a:gdLst/>
              <a:ahLst/>
              <a:cxnLst/>
              <a:rect l="l" t="t" r="r" b="b"/>
              <a:pathLst>
                <a:path w="2996" h="3838" extrusionOk="0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4961567" y="3237560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4961567" y="3300099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4961567" y="3362943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4961567" y="3425482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4961567" y="3487748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24"/>
          <p:cNvSpPr txBox="1">
            <a:spLocks noGrp="1"/>
          </p:cNvSpPr>
          <p:nvPr>
            <p:ph type="title"/>
          </p:nvPr>
        </p:nvSpPr>
        <p:spPr>
          <a:xfrm>
            <a:off x="642963" y="205543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LabVIEW model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48" y="845743"/>
            <a:ext cx="6928229" cy="4005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6166720" y="814582"/>
            <a:ext cx="2342213" cy="2313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Izgled GUI-a uz LabVIEW model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789350" y="3889975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1" name="Google Shape;251;p25"/>
          <p:cNvGrpSpPr/>
          <p:nvPr/>
        </p:nvGrpSpPr>
        <p:grpSpPr>
          <a:xfrm>
            <a:off x="8151540" y="3488991"/>
            <a:ext cx="914298" cy="753197"/>
            <a:chOff x="4810340" y="1026041"/>
            <a:chExt cx="914298" cy="753197"/>
          </a:xfrm>
        </p:grpSpPr>
        <p:sp>
          <p:nvSpPr>
            <p:cNvPr id="252" name="Google Shape;252;p25"/>
            <p:cNvSpPr/>
            <p:nvPr/>
          </p:nvSpPr>
          <p:spPr>
            <a:xfrm>
              <a:off x="4810340" y="1026041"/>
              <a:ext cx="914298" cy="753197"/>
            </a:xfrm>
            <a:custGeom>
              <a:avLst/>
              <a:gdLst/>
              <a:ahLst/>
              <a:cxnLst/>
              <a:rect l="l" t="t" r="r" b="b"/>
              <a:pathLst>
                <a:path w="26901" h="22161" extrusionOk="0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4846028" y="1134906"/>
              <a:ext cx="843196" cy="592436"/>
            </a:xfrm>
            <a:custGeom>
              <a:avLst/>
              <a:gdLst/>
              <a:ahLst/>
              <a:cxnLst/>
              <a:rect l="l" t="t" r="r" b="b"/>
              <a:pathLst>
                <a:path w="24809" h="17431" extrusionOk="0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4859011" y="1059350"/>
              <a:ext cx="42212" cy="42246"/>
            </a:xfrm>
            <a:custGeom>
              <a:avLst/>
              <a:gdLst/>
              <a:ahLst/>
              <a:cxnLst/>
              <a:rect l="l" t="t" r="r" b="b"/>
              <a:pathLst>
                <a:path w="1242" h="1243" extrusionOk="0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4930693" y="1059384"/>
              <a:ext cx="41941" cy="42212"/>
            </a:xfrm>
            <a:custGeom>
              <a:avLst/>
              <a:gdLst/>
              <a:ahLst/>
              <a:cxnLst/>
              <a:rect l="l" t="t" r="r" b="b"/>
              <a:pathLst>
                <a:path w="1234" h="1242" extrusionOk="0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5002408" y="1059384"/>
              <a:ext cx="42212" cy="42212"/>
            </a:xfrm>
            <a:custGeom>
              <a:avLst/>
              <a:gdLst/>
              <a:ahLst/>
              <a:cxnLst/>
              <a:rect l="l" t="t" r="r" b="b"/>
              <a:pathLst>
                <a:path w="1242" h="1242" extrusionOk="0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56" y="436386"/>
            <a:ext cx="5330071" cy="4257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MATLAB i Curve Fitting Tool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789350" y="3889975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02" y="1176203"/>
            <a:ext cx="4946123" cy="29658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44FFD7-568F-A16B-338B-DE627E032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9" y="1176203"/>
            <a:ext cx="3478499" cy="26088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4A43F5-05E6-3114-0EFA-B957FE7F53E6}"/>
              </a:ext>
            </a:extLst>
          </p:cNvPr>
          <p:cNvSpPr txBox="1"/>
          <p:nvPr/>
        </p:nvSpPr>
        <p:spPr>
          <a:xfrm>
            <a:off x="396240" y="4248912"/>
            <a:ext cx="4126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lata" panose="020B0604020202020204" charset="0"/>
                <a:cs typeface="Alata" panose="020B0604020202020204" charset="0"/>
              </a:rPr>
              <a:t>udaljenost=0.0175*vrijeme-0.8982</a:t>
            </a:r>
          </a:p>
        </p:txBody>
      </p:sp>
    </p:spTree>
    <p:extLst>
      <p:ext uri="{BB962C8B-B14F-4D97-AF65-F5344CB8AC3E}">
        <p14:creationId xmlns:p14="http://schemas.microsoft.com/office/powerpoint/2010/main" val="203806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7240" y="327060"/>
            <a:ext cx="6229441" cy="5727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hr-HR" dirty="0"/>
              <a:t>Eksperimentalni rezultati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F3BA8-F8B8-B743-A6B1-27F931FEF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9" y="1394391"/>
            <a:ext cx="3943351" cy="2957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012C04-8DA4-9AB9-85CF-35972F5A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73" y="1394392"/>
            <a:ext cx="3943350" cy="29575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4C2CE0-881E-A3E4-F87E-0F04C1E00AF0}"/>
              </a:ext>
            </a:extLst>
          </p:cNvPr>
          <p:cNvSpPr txBox="1"/>
          <p:nvPr/>
        </p:nvSpPr>
        <p:spPr>
          <a:xfrm>
            <a:off x="4572000" y="991919"/>
            <a:ext cx="42088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lata" panose="020B0604020202020204" charset="0"/>
                <a:cs typeface="Alata" panose="020B0604020202020204" charset="0"/>
              </a:rPr>
              <a:t>vrijeme = ( 57.64 * udaljenost + 49.42)/1000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2BDF4-96BC-7ECF-45E7-B08B22318401}"/>
              </a:ext>
            </a:extLst>
          </p:cNvPr>
          <p:cNvSpPr txBox="1"/>
          <p:nvPr/>
        </p:nvSpPr>
        <p:spPr>
          <a:xfrm>
            <a:off x="6004222" y="4499916"/>
            <a:ext cx="227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lata" panose="020B0604020202020204" charset="0"/>
                <a:cs typeface="Alata" panose="020B0604020202020204" charset="0"/>
              </a:rPr>
              <a:t>Linearna karakteristika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E10645-05A9-3133-DF72-79B643504AEB}"/>
              </a:ext>
            </a:extLst>
          </p:cNvPr>
          <p:cNvSpPr txBox="1"/>
          <p:nvPr/>
        </p:nvSpPr>
        <p:spPr>
          <a:xfrm>
            <a:off x="1497240" y="4499916"/>
            <a:ext cx="2508738" cy="31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lata" panose="020B0604020202020204" charset="0"/>
                <a:cs typeface="Alata" panose="020B0604020202020204" charset="0"/>
              </a:rPr>
              <a:t>Mjerene vrijednosti</a:t>
            </a:r>
          </a:p>
        </p:txBody>
      </p:sp>
    </p:spTree>
    <p:extLst>
      <p:ext uri="{BB962C8B-B14F-4D97-AF65-F5344CB8AC3E}">
        <p14:creationId xmlns:p14="http://schemas.microsoft.com/office/powerpoint/2010/main" val="2704178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7240" y="327060"/>
            <a:ext cx="6229441" cy="5727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hr-HR" dirty="0"/>
              <a:t>Eksperimentalni rezultati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40" y="987136"/>
            <a:ext cx="1825080" cy="3628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621" y="989298"/>
            <a:ext cx="559408" cy="11138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621" y="2246598"/>
            <a:ext cx="559408" cy="11138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621" y="3503898"/>
            <a:ext cx="559408" cy="11138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/>
          <a:srcRect t="19658" b="1468"/>
          <a:stretch/>
        </p:blipFill>
        <p:spPr>
          <a:xfrm>
            <a:off x="4110329" y="989298"/>
            <a:ext cx="3616352" cy="36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38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E56F-3DA8-CCFE-6EE2-B793DAEC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E629E9-5F21-5747-909B-AB56D4BA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240" y="327060"/>
            <a:ext cx="6229441" cy="5727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hr-HR" dirty="0"/>
              <a:t>Eksperimentalni rezultati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FD0AC1-4615-76C1-0087-E35B4D8F1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433" y="1017743"/>
            <a:ext cx="5169133" cy="38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5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3E1A-AD0C-9CF5-89AF-AF7D9BEF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9AD25F-C7D0-47D5-32A4-A74BA83D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240" y="327060"/>
            <a:ext cx="6229441" cy="5727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Greške</a:t>
            </a:r>
            <a:endParaRPr lang="hr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47700-600A-6A8E-257D-EC41BFD7C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38" y="1236242"/>
            <a:ext cx="4062118" cy="3046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E859C8-1F45-C899-5A66-8850F35C2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469" y="2361705"/>
            <a:ext cx="3614025" cy="79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68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0;p27"/>
          <p:cNvSpPr txBox="1">
            <a:spLocks/>
          </p:cNvSpPr>
          <p:nvPr/>
        </p:nvSpPr>
        <p:spPr>
          <a:xfrm>
            <a:off x="1215300" y="377365"/>
            <a:ext cx="3509100" cy="47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6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1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algn="ctr"/>
            <a:r>
              <a:rPr lang="hr-HR" sz="3200" dirty="0"/>
              <a:t>Zaključak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94340" y="1127760"/>
            <a:ext cx="43510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2">
                    <a:lumMod val="50000"/>
                  </a:schemeClr>
                </a:solidFill>
                <a:latin typeface="Alata" panose="020B0604020202020204" charset="-18"/>
                <a:cs typeface="Alata" panose="020B0604020202020204" charset="-18"/>
              </a:rPr>
              <a:t>pouzdan za kraće udaljenosti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2">
                    <a:lumMod val="50000"/>
                  </a:schemeClr>
                </a:solidFill>
                <a:latin typeface="Alata" panose="020B0604020202020204" charset="-18"/>
                <a:cs typeface="Alata" panose="020B0604020202020204" charset="-18"/>
              </a:rPr>
              <a:t>tačnost opada pri većim udaljenostima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2">
                    <a:lumMod val="50000"/>
                  </a:schemeClr>
                </a:solidFill>
                <a:latin typeface="Alata" panose="020B0604020202020204" charset="-18"/>
                <a:cs typeface="Alata" panose="020B0604020202020204" charset="-18"/>
              </a:rPr>
              <a:t>osjetljiv na refleksije i prisustvo više objekata u okruženju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2">
                    <a:lumMod val="50000"/>
                  </a:schemeClr>
                </a:solidFill>
                <a:latin typeface="Alata" panose="020B0604020202020204" charset="-18"/>
                <a:cs typeface="Alata" panose="020B0604020202020204" charset="-18"/>
              </a:rPr>
              <a:t>rad u složenim uslovima zahtijeva pažljivu postavku i kalibraciju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2">
                    <a:lumMod val="50000"/>
                  </a:schemeClr>
                </a:solidFill>
                <a:latin typeface="Alata" panose="020B0604020202020204" charset="-18"/>
                <a:cs typeface="Alata" panose="020B0604020202020204" charset="-18"/>
              </a:rPr>
              <a:t>razumijevanje ograničenja senzora doprinosi preciznosti i efikasnosti sistema</a:t>
            </a:r>
          </a:p>
        </p:txBody>
      </p:sp>
    </p:spTree>
    <p:extLst>
      <p:ext uri="{BB962C8B-B14F-4D97-AF65-F5344CB8AC3E}">
        <p14:creationId xmlns:p14="http://schemas.microsoft.com/office/powerpoint/2010/main" val="311342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/>
          <p:nvPr/>
        </p:nvSpPr>
        <p:spPr>
          <a:xfrm flipH="1">
            <a:off x="113550" y="955832"/>
            <a:ext cx="4800782" cy="3164929"/>
          </a:xfrm>
          <a:custGeom>
            <a:avLst/>
            <a:gdLst/>
            <a:ahLst/>
            <a:cxnLst/>
            <a:rect l="l" t="t" r="r" b="b"/>
            <a:pathLst>
              <a:path w="154814" h="98305" extrusionOk="0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 flipH="1">
            <a:off x="901738" y="1543700"/>
            <a:ext cx="1116965" cy="1116693"/>
          </a:xfrm>
          <a:custGeom>
            <a:avLst/>
            <a:gdLst/>
            <a:ahLst/>
            <a:cxnLst/>
            <a:rect l="l" t="t" r="r" b="b"/>
            <a:pathLst>
              <a:path w="32864" h="32856" extrusionOk="0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6"/>
          <p:cNvSpPr/>
          <p:nvPr/>
        </p:nvSpPr>
        <p:spPr>
          <a:xfrm flipH="1">
            <a:off x="415217" y="2181530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 flipH="1">
            <a:off x="1351107" y="931488"/>
            <a:ext cx="623977" cy="405403"/>
          </a:xfrm>
          <a:custGeom>
            <a:avLst/>
            <a:gdLst/>
            <a:ahLst/>
            <a:cxnLst/>
            <a:rect l="l" t="t" r="r" b="b"/>
            <a:pathLst>
              <a:path w="18359" h="11928" fill="none" extrusionOk="0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868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6"/>
          <p:cNvGrpSpPr/>
          <p:nvPr/>
        </p:nvGrpSpPr>
        <p:grpSpPr>
          <a:xfrm>
            <a:off x="1386731" y="2093631"/>
            <a:ext cx="2538390" cy="2056394"/>
            <a:chOff x="3780013" y="1888393"/>
            <a:chExt cx="2538390" cy="2056394"/>
          </a:xfrm>
        </p:grpSpPr>
        <p:sp>
          <p:nvSpPr>
            <p:cNvPr id="269" name="Google Shape;269;p26"/>
            <p:cNvSpPr/>
            <p:nvPr/>
          </p:nvSpPr>
          <p:spPr>
            <a:xfrm>
              <a:off x="3780013" y="1888393"/>
              <a:ext cx="2538390" cy="1625894"/>
            </a:xfrm>
            <a:custGeom>
              <a:avLst/>
              <a:gdLst/>
              <a:ahLst/>
              <a:cxnLst/>
              <a:rect l="l" t="t" r="r" b="b"/>
              <a:pathLst>
                <a:path w="74686" h="47838" extrusionOk="0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897715" y="1988693"/>
              <a:ext cx="2303265" cy="1399911"/>
            </a:xfrm>
            <a:custGeom>
              <a:avLst/>
              <a:gdLst/>
              <a:ahLst/>
              <a:cxnLst/>
              <a:rect l="l" t="t" r="r" b="b"/>
              <a:pathLst>
                <a:path w="67768" h="41189" extrusionOk="0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897443" y="1988693"/>
              <a:ext cx="2219180" cy="1399911"/>
            </a:xfrm>
            <a:custGeom>
              <a:avLst/>
              <a:gdLst/>
              <a:ahLst/>
              <a:cxnLst/>
              <a:rect l="l" t="t" r="r" b="b"/>
              <a:pathLst>
                <a:path w="65294" h="41189" extrusionOk="0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5033303" y="1920852"/>
              <a:ext cx="32492" cy="32492"/>
            </a:xfrm>
            <a:custGeom>
              <a:avLst/>
              <a:gdLst/>
              <a:ahLst/>
              <a:cxnLst/>
              <a:rect l="l" t="t" r="r" b="b"/>
              <a:pathLst>
                <a:path w="956" h="956" extrusionOk="0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4113100" y="2170157"/>
              <a:ext cx="839661" cy="42790"/>
            </a:xfrm>
            <a:custGeom>
              <a:avLst/>
              <a:gdLst/>
              <a:ahLst/>
              <a:cxnLst/>
              <a:rect l="l" t="t" r="r" b="b"/>
              <a:pathLst>
                <a:path w="24705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4113100" y="2397607"/>
              <a:ext cx="839661" cy="42824"/>
            </a:xfrm>
            <a:custGeom>
              <a:avLst/>
              <a:gdLst/>
              <a:ahLst/>
              <a:cxnLst/>
              <a:rect l="l" t="t" r="r" b="b"/>
              <a:pathLst>
                <a:path w="24705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4113100" y="2246257"/>
              <a:ext cx="489760" cy="42824"/>
            </a:xfrm>
            <a:custGeom>
              <a:avLst/>
              <a:gdLst/>
              <a:ahLst/>
              <a:cxnLst/>
              <a:rect l="l" t="t" r="r" b="b"/>
              <a:pathLst>
                <a:path w="14410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4113100" y="2322085"/>
              <a:ext cx="939958" cy="42824"/>
            </a:xfrm>
            <a:custGeom>
              <a:avLst/>
              <a:gdLst/>
              <a:ahLst/>
              <a:cxnLst/>
              <a:rect l="l" t="t" r="r" b="b"/>
              <a:pathLst>
                <a:path w="27656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5068685" y="2322085"/>
              <a:ext cx="151992" cy="42824"/>
            </a:xfrm>
            <a:custGeom>
              <a:avLst/>
              <a:gdLst/>
              <a:ahLst/>
              <a:cxnLst/>
              <a:rect l="l" t="t" r="r" b="b"/>
              <a:pathLst>
                <a:path w="4472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244541" y="2322085"/>
              <a:ext cx="82352" cy="42824"/>
            </a:xfrm>
            <a:custGeom>
              <a:avLst/>
              <a:gdLst/>
              <a:ahLst/>
              <a:cxnLst/>
              <a:rect l="l" t="t" r="r" b="b"/>
              <a:pathLst>
                <a:path w="2423" h="1260" extrusionOk="0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113100" y="2473740"/>
              <a:ext cx="535779" cy="42790"/>
            </a:xfrm>
            <a:custGeom>
              <a:avLst/>
              <a:gdLst/>
              <a:ahLst/>
              <a:cxnLst/>
              <a:rect l="l" t="t" r="r" b="b"/>
              <a:pathLst>
                <a:path w="15764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657425" y="2473740"/>
              <a:ext cx="86770" cy="42790"/>
            </a:xfrm>
            <a:custGeom>
              <a:avLst/>
              <a:gdLst/>
              <a:ahLst/>
              <a:cxnLst/>
              <a:rect l="l" t="t" r="r" b="b"/>
              <a:pathLst>
                <a:path w="2553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4757724" y="2473740"/>
              <a:ext cx="46971" cy="42790"/>
            </a:xfrm>
            <a:custGeom>
              <a:avLst/>
              <a:gdLst/>
              <a:ahLst/>
              <a:cxnLst/>
              <a:rect l="l" t="t" r="r" b="b"/>
              <a:pathLst>
                <a:path w="1382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110755" y="3060821"/>
              <a:ext cx="308607" cy="42824"/>
            </a:xfrm>
            <a:custGeom>
              <a:avLst/>
              <a:gdLst/>
              <a:ahLst/>
              <a:cxnLst/>
              <a:rect l="l" t="t" r="r" b="b"/>
              <a:pathLst>
                <a:path w="9080" h="1260" extrusionOk="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110755" y="3136649"/>
              <a:ext cx="179998" cy="42824"/>
            </a:xfrm>
            <a:custGeom>
              <a:avLst/>
              <a:gdLst/>
              <a:ahLst/>
              <a:cxnLst/>
              <a:rect l="l" t="t" r="r" b="b"/>
              <a:pathLst>
                <a:path w="5296" h="1260" extrusionOk="0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5480250" y="3064390"/>
              <a:ext cx="576224" cy="42790"/>
            </a:xfrm>
            <a:custGeom>
              <a:avLst/>
              <a:gdLst/>
              <a:ahLst/>
              <a:cxnLst/>
              <a:rect l="l" t="t" r="r" b="b"/>
              <a:pathLst>
                <a:path w="16954" h="1259" extrusionOk="0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5720413" y="3140490"/>
              <a:ext cx="336068" cy="42824"/>
            </a:xfrm>
            <a:custGeom>
              <a:avLst/>
              <a:gdLst/>
              <a:ahLst/>
              <a:cxnLst/>
              <a:rect l="l" t="t" r="r" b="b"/>
              <a:pathLst>
                <a:path w="9888" h="1260" extrusionOk="0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5411220" y="3216318"/>
              <a:ext cx="645559" cy="42824"/>
            </a:xfrm>
            <a:custGeom>
              <a:avLst/>
              <a:gdLst/>
              <a:ahLst/>
              <a:cxnLst/>
              <a:rect l="l" t="t" r="r" b="b"/>
              <a:pathLst>
                <a:path w="18994" h="1260" extrusionOk="0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5296169" y="3216318"/>
              <a:ext cx="104478" cy="42824"/>
            </a:xfrm>
            <a:custGeom>
              <a:avLst/>
              <a:gdLst/>
              <a:ahLst/>
              <a:cxnLst/>
              <a:rect l="l" t="t" r="r" b="b"/>
              <a:pathLst>
                <a:path w="3074" h="1260" extrusionOk="0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5223298" y="3216318"/>
              <a:ext cx="56385" cy="42824"/>
            </a:xfrm>
            <a:custGeom>
              <a:avLst/>
              <a:gdLst/>
              <a:ahLst/>
              <a:cxnLst/>
              <a:rect l="l" t="t" r="r" b="b"/>
              <a:pathLst>
                <a:path w="1659" h="1260" extrusionOk="0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4113100" y="2563436"/>
              <a:ext cx="11556" cy="456418"/>
            </a:xfrm>
            <a:custGeom>
              <a:avLst/>
              <a:gdLst/>
              <a:ahLst/>
              <a:cxnLst/>
              <a:rect l="l" t="t" r="r" b="b"/>
              <a:pathLst>
                <a:path w="340" h="13429" extrusionOk="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3780013" y="3514293"/>
              <a:ext cx="2538390" cy="183532"/>
            </a:xfrm>
            <a:custGeom>
              <a:avLst/>
              <a:gdLst/>
              <a:ahLst/>
              <a:cxnLst/>
              <a:rect l="l" t="t" r="r" b="b"/>
              <a:pathLst>
                <a:path w="74686" h="5400" extrusionOk="0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4518380" y="3697796"/>
              <a:ext cx="909302" cy="193865"/>
            </a:xfrm>
            <a:custGeom>
              <a:avLst/>
              <a:gdLst/>
              <a:ahLst/>
              <a:cxnLst/>
              <a:rect l="l" t="t" r="r" b="b"/>
              <a:pathLst>
                <a:path w="26754" h="5704" extrusionOk="0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4364956" y="3874230"/>
              <a:ext cx="1216413" cy="70558"/>
            </a:xfrm>
            <a:custGeom>
              <a:avLst/>
              <a:gdLst/>
              <a:ahLst/>
              <a:cxnLst/>
              <a:rect l="l" t="t" r="r" b="b"/>
              <a:pathLst>
                <a:path w="35790" h="2076" extrusionOk="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4573849" y="3697796"/>
              <a:ext cx="798672" cy="96796"/>
            </a:xfrm>
            <a:custGeom>
              <a:avLst/>
              <a:gdLst/>
              <a:ahLst/>
              <a:cxnLst/>
              <a:rect l="l" t="t" r="r" b="b"/>
              <a:pathLst>
                <a:path w="23499" h="2848" extrusionOk="0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26"/>
          <p:cNvGrpSpPr/>
          <p:nvPr/>
        </p:nvGrpSpPr>
        <p:grpSpPr>
          <a:xfrm>
            <a:off x="810995" y="2456830"/>
            <a:ext cx="811927" cy="753197"/>
            <a:chOff x="4932662" y="2251593"/>
            <a:chExt cx="811927" cy="753197"/>
          </a:xfrm>
        </p:grpSpPr>
        <p:sp>
          <p:nvSpPr>
            <p:cNvPr id="295" name="Google Shape;295;p26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26"/>
          <p:cNvGrpSpPr/>
          <p:nvPr/>
        </p:nvGrpSpPr>
        <p:grpSpPr>
          <a:xfrm>
            <a:off x="2209097" y="1231279"/>
            <a:ext cx="914298" cy="753197"/>
            <a:chOff x="4810340" y="1026041"/>
            <a:chExt cx="914298" cy="753197"/>
          </a:xfrm>
        </p:grpSpPr>
        <p:sp>
          <p:nvSpPr>
            <p:cNvPr id="301" name="Google Shape;301;p26"/>
            <p:cNvSpPr/>
            <p:nvPr/>
          </p:nvSpPr>
          <p:spPr>
            <a:xfrm>
              <a:off x="4810340" y="1026041"/>
              <a:ext cx="914298" cy="753197"/>
            </a:xfrm>
            <a:custGeom>
              <a:avLst/>
              <a:gdLst/>
              <a:ahLst/>
              <a:cxnLst/>
              <a:rect l="l" t="t" r="r" b="b"/>
              <a:pathLst>
                <a:path w="26901" h="22161" extrusionOk="0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4846028" y="1134906"/>
              <a:ext cx="843196" cy="592436"/>
            </a:xfrm>
            <a:custGeom>
              <a:avLst/>
              <a:gdLst/>
              <a:ahLst/>
              <a:cxnLst/>
              <a:rect l="l" t="t" r="r" b="b"/>
              <a:pathLst>
                <a:path w="24809" h="17431" extrusionOk="0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4859011" y="1059350"/>
              <a:ext cx="42212" cy="42246"/>
            </a:xfrm>
            <a:custGeom>
              <a:avLst/>
              <a:gdLst/>
              <a:ahLst/>
              <a:cxnLst/>
              <a:rect l="l" t="t" r="r" b="b"/>
              <a:pathLst>
                <a:path w="1242" h="1243" extrusionOk="0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4930693" y="1059384"/>
              <a:ext cx="41941" cy="42212"/>
            </a:xfrm>
            <a:custGeom>
              <a:avLst/>
              <a:gdLst/>
              <a:ahLst/>
              <a:cxnLst/>
              <a:rect l="l" t="t" r="r" b="b"/>
              <a:pathLst>
                <a:path w="1234" h="1242" extrusionOk="0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5002408" y="1059384"/>
              <a:ext cx="42212" cy="42212"/>
            </a:xfrm>
            <a:custGeom>
              <a:avLst/>
              <a:gdLst/>
              <a:ahLst/>
              <a:cxnLst/>
              <a:rect l="l" t="t" r="r" b="b"/>
              <a:pathLst>
                <a:path w="1242" h="1242" extrusionOk="0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26"/>
          <p:cNvGrpSpPr/>
          <p:nvPr/>
        </p:nvGrpSpPr>
        <p:grpSpPr>
          <a:xfrm flipH="1">
            <a:off x="810978" y="3258683"/>
            <a:ext cx="508385" cy="644675"/>
            <a:chOff x="4859771" y="3053445"/>
            <a:chExt cx="508385" cy="644675"/>
          </a:xfrm>
        </p:grpSpPr>
        <p:sp>
          <p:nvSpPr>
            <p:cNvPr id="307" name="Google Shape;307;p26"/>
            <p:cNvSpPr/>
            <p:nvPr/>
          </p:nvSpPr>
          <p:spPr>
            <a:xfrm>
              <a:off x="4859771" y="3053445"/>
              <a:ext cx="508385" cy="644675"/>
            </a:xfrm>
            <a:custGeom>
              <a:avLst/>
              <a:gdLst/>
              <a:ahLst/>
              <a:cxnLst/>
              <a:rect l="l" t="t" r="r" b="b"/>
              <a:pathLst>
                <a:path w="14958" h="18968" extrusionOk="0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5265729" y="3053751"/>
              <a:ext cx="101827" cy="130444"/>
            </a:xfrm>
            <a:custGeom>
              <a:avLst/>
              <a:gdLst/>
              <a:ahLst/>
              <a:cxnLst/>
              <a:rect l="l" t="t" r="r" b="b"/>
              <a:pathLst>
                <a:path w="2996" h="3838" extrusionOk="0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961567" y="3237560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4961567" y="3300099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4961567" y="3362943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4961567" y="3425482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4961567" y="3487748"/>
              <a:ext cx="304188" cy="26578"/>
            </a:xfrm>
            <a:custGeom>
              <a:avLst/>
              <a:gdLst/>
              <a:ahLst/>
              <a:cxnLst/>
              <a:rect l="l" t="t" r="r" b="b"/>
              <a:pathLst>
                <a:path w="895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6"/>
          <p:cNvSpPr/>
          <p:nvPr/>
        </p:nvSpPr>
        <p:spPr>
          <a:xfrm flipH="1">
            <a:off x="3426966" y="1763296"/>
            <a:ext cx="746128" cy="1207406"/>
          </a:xfrm>
          <a:custGeom>
            <a:avLst/>
            <a:gdLst/>
            <a:ahLst/>
            <a:cxnLst/>
            <a:rect l="l" t="t" r="r" b="b"/>
            <a:pathLst>
              <a:path w="21953" h="35525" extrusionOk="0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5" name="Google Shape;315;p26"/>
          <p:cNvGrpSpPr/>
          <p:nvPr/>
        </p:nvGrpSpPr>
        <p:grpSpPr>
          <a:xfrm>
            <a:off x="3260286" y="1150727"/>
            <a:ext cx="740520" cy="478869"/>
            <a:chOff x="3932929" y="945489"/>
            <a:chExt cx="740520" cy="478869"/>
          </a:xfrm>
        </p:grpSpPr>
        <p:grpSp>
          <p:nvGrpSpPr>
            <p:cNvPr id="316" name="Google Shape;316;p26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317" name="Google Shape;317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26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325" name="Google Shape;325;p26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6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6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Rectangle 97"/>
          <p:cNvSpPr/>
          <p:nvPr/>
        </p:nvSpPr>
        <p:spPr>
          <a:xfrm>
            <a:off x="5329238" y="3464719"/>
            <a:ext cx="3378993" cy="113585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61" name="Google Shape;261;p26"/>
          <p:cNvSpPr txBox="1">
            <a:spLocks noGrp="1"/>
          </p:cNvSpPr>
          <p:nvPr>
            <p:ph type="ctrTitle"/>
          </p:nvPr>
        </p:nvSpPr>
        <p:spPr>
          <a:xfrm>
            <a:off x="4131495" y="2503151"/>
            <a:ext cx="4382199" cy="10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Hvala na pažnji!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403</Words>
  <Application>Microsoft Office PowerPoint</Application>
  <PresentationFormat>On-screen Show (16:9)</PresentationFormat>
  <Paragraphs>72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Archivo</vt:lpstr>
      <vt:lpstr>Open Sans</vt:lpstr>
      <vt:lpstr>Cambria Math</vt:lpstr>
      <vt:lpstr>Alata</vt:lpstr>
      <vt:lpstr>Arial</vt:lpstr>
      <vt:lpstr>Intro to Recursion by Slidesgo</vt:lpstr>
      <vt:lpstr>Statička karakteristika ultrazvučnog senzora HC-SR04</vt:lpstr>
      <vt:lpstr>Sadržaj</vt:lpstr>
      <vt:lpstr>OPIS PROJEKTA – ciljevi i realizacija</vt:lpstr>
      <vt:lpstr>O senzoru -princip rada senzora</vt:lpstr>
      <vt:lpstr>O senzoru -moguće primjene u praksi</vt:lpstr>
      <vt:lpstr>Organizacija laboratorijskih vježbi - segmenti</vt:lpstr>
      <vt:lpstr>Shema spajanja senzora s akvizicijskom karticom</vt:lpstr>
      <vt:lpstr>LabVIEW model</vt:lpstr>
      <vt:lpstr>LabVIEW model</vt:lpstr>
      <vt:lpstr>Izgled GUI-a uz LabVIEW model</vt:lpstr>
      <vt:lpstr>MATLAB i Curve Fitting Tool</vt:lpstr>
      <vt:lpstr>Eksperimentalni rezultati</vt:lpstr>
      <vt:lpstr>Eksperimentalni rezultati</vt:lpstr>
      <vt:lpstr>Eksperimentalni rezultati</vt:lpstr>
      <vt:lpstr>Greške</vt:lpstr>
      <vt:lpstr>PowerPoint Presentation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Statička karakteristika ultrazvučnog senzora HC-SR04</dc:title>
  <dc:creator>user</dc:creator>
  <cp:lastModifiedBy>elma avdibegovic</cp:lastModifiedBy>
  <cp:revision>37</cp:revision>
  <dcterms:modified xsi:type="dcterms:W3CDTF">2025-05-22T20:29:37Z</dcterms:modified>
</cp:coreProperties>
</file>